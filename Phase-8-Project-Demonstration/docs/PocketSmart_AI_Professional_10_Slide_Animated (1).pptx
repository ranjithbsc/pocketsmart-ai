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3CDFF"/>
          </a:solidFill>
          <a:ln>
            <a:solidFill>
              <a:srgbClr val="2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CDFF"/>
                </a:solidFill>
                <a:latin typeface="Aptos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 Display"/>
              </a:rPr>
              <a:t>POCKETSMART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046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9D4"/>
                </a:solidFill>
                <a:latin typeface="Aptos Display"/>
              </a:rPr>
              <a:t>Your Smart Budget &amp; Recommendation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AAB9D4"/>
                </a:solidFill>
                <a:latin typeface="Aptos Display"/>
              </a:rPr>
              <a:t>POCKETSMART AI   •   1/10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6446520" cy="4343400"/>
          </a:xfrm>
          <a:prstGeom prst="roundRect">
            <a:avLst/>
          </a:prstGeom>
          <a:solidFill>
            <a:srgbClr val="101A30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737360"/>
            <a:ext cx="1463040" cy="384048"/>
          </a:xfrm>
          <a:prstGeom prst="roundRect">
            <a:avLst/>
          </a:prstGeom>
          <a:solidFill>
            <a:srgbClr val="964BFF"/>
          </a:solidFill>
          <a:ln>
            <a:solidFill>
              <a:srgbClr val="96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105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ptos Display"/>
              </a:rPr>
              <a:t>TEAM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 Display"/>
              </a:rPr>
              <a:t>PocketSmart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3CDFF"/>
                </a:solidFill>
                <a:latin typeface="Aptos Display"/>
              </a:rPr>
              <a:t>AI-powered budget planning
and recommendation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E41"/>
                </a:solidFill>
                <a:latin typeface="Aptos Display"/>
              </a:rPr>
              <a:t>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462272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5F8FF"/>
                </a:solidFill>
                <a:latin typeface="Aptos Display"/>
              </a:rPr>
              <a:t>Ranjith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462272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BE41"/>
                </a:solidFill>
                <a:latin typeface="Aptos Display"/>
              </a:rPr>
              <a:t>TEAM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773168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5F8FF"/>
                </a:solidFill>
                <a:latin typeface="Aptos Display"/>
              </a:rPr>
              <a:t>Reyan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773168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AAB9D4"/>
                </a:solidFill>
                <a:latin typeface="Aptos Display"/>
              </a:rPr>
              <a:t>TEAM MEMBER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084064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5F8FF"/>
                </a:solidFill>
                <a:latin typeface="Aptos Display"/>
              </a:rPr>
              <a:t>Magesh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5084064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AAB9D4"/>
                </a:solidFill>
                <a:latin typeface="Aptos Display"/>
              </a:rPr>
              <a:t>TEAM 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394960"/>
            <a:ext cx="2057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5F8FF"/>
                </a:solidFill>
                <a:latin typeface="Aptos Display"/>
              </a:rPr>
              <a:t>Shyam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5394960"/>
            <a:ext cx="2194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AAB9D4"/>
                </a:solidFill>
                <a:latin typeface="Aptos Display"/>
              </a:rPr>
              <a:t>TEAM MEMBER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417320"/>
            <a:ext cx="3931920" cy="4343400"/>
          </a:xfrm>
          <a:prstGeom prst="roundRect">
            <a:avLst/>
          </a:prstGeom>
          <a:solidFill>
            <a:srgbClr val="16233E"/>
          </a:solidFill>
          <a:ln>
            <a:solidFill>
              <a:srgbClr val="30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CDFF"/>
                </a:solidFill>
                <a:latin typeface="Aptos Display"/>
              </a:rPr>
              <a:t>SMART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964BFF"/>
                </a:solidFill>
                <a:latin typeface="Aptos Display"/>
              </a:rP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8D791"/>
                </a:solidFill>
                <a:latin typeface="Aptos Display"/>
              </a:rPr>
              <a:t>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337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F8FF"/>
                </a:solidFill>
                <a:latin typeface="Aptos Display"/>
              </a:rPr>
              <a:t>LIVE BETTER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251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AAB9D4"/>
                </a:solidFill>
                <a:latin typeface="Aptos Display"/>
              </a:rPr>
              <a:t>B.Sc. Computer Science with Artificial Intelligence</a:t>
            </a:r>
          </a:p>
        </p:txBody>
      </p:sp>
    </p:spTree>
  </p:cSld>
  <p:transition spd="slow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3CDFF"/>
          </a:solidFill>
          <a:ln>
            <a:solidFill>
              <a:srgbClr val="2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CDFF"/>
                </a:solidFill>
                <a:latin typeface="Aptos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 Display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046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9D4"/>
                </a:solidFill>
                <a:latin typeface="Aptos Display"/>
              </a:rPr>
              <a:t>Planning with a fixed budget can become time-consuming.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AAB9D4"/>
                </a:solidFill>
                <a:latin typeface="Aptos Display"/>
              </a:rPr>
              <a:t>POCKETSMART AI   •   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468880" cy="3108960"/>
          </a:xfrm>
          <a:prstGeom prst="roundRect">
            <a:avLst/>
          </a:prstGeom>
          <a:solidFill>
            <a:srgbClr val="101A30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CDFF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9D4"/>
                </a:solidFill>
                <a:latin typeface="Aptos Display"/>
              </a:rPr>
              <a:t>Too many options to explore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468880" cy="3108960"/>
          </a:xfrm>
          <a:prstGeom prst="roundRect">
            <a:avLst/>
          </a:prstGeom>
          <a:solidFill>
            <a:srgbClr val="101A30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105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64BFF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3172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2608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9D4"/>
                </a:solidFill>
                <a:latin typeface="Aptos Display"/>
              </a:rPr>
              <a:t>Difficult to compare alternatives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2468880" cy="3108960"/>
          </a:xfrm>
          <a:prstGeom prst="roundRect">
            <a:avLst/>
          </a:prstGeom>
          <a:solidFill>
            <a:srgbClr val="101A30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105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D791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3172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CALCULATE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92608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9D4"/>
                </a:solidFill>
                <a:latin typeface="Aptos Display"/>
              </a:rPr>
              <a:t>Manual budget allocation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600200"/>
            <a:ext cx="2468880" cy="3108960"/>
          </a:xfrm>
          <a:prstGeom prst="roundRect">
            <a:avLst/>
          </a:prstGeom>
          <a:solidFill>
            <a:srgbClr val="101A30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39" y="18105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E41"/>
                </a:solidFill>
                <a:latin typeface="Aptos Displa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233172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 Display"/>
              </a:rPr>
              <a:t>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292608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9D4"/>
                </a:solidFill>
                <a:latin typeface="Aptos Display"/>
              </a:rPr>
              <a:t>Choosing what fits the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CDFF"/>
                </a:solidFill>
                <a:latin typeface="Aptos Display"/>
              </a:rPr>
              <a:t>THE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0749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F8FF"/>
                </a:solidFill>
                <a:latin typeface="Aptos Display"/>
              </a:rPr>
              <a:t>“How can we make budget planning simpler, faster and smarter?”</a:t>
            </a:r>
          </a:p>
        </p:txBody>
      </p:sp>
    </p:spTree>
  </p:cSld>
  <p:transition spd="slow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3CDFF"/>
          </a:solidFill>
          <a:ln>
            <a:solidFill>
              <a:srgbClr val="2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CDFF"/>
                </a:solidFill>
                <a:latin typeface="Aptos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 Display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046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9D4"/>
                </a:solidFill>
                <a:latin typeface="Aptos Display"/>
              </a:rPr>
              <a:t>A single web application connecting requirements, budget and AI-assisted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AAB9D4"/>
                </a:solidFill>
                <a:latin typeface="Aptos Display"/>
              </a:rPr>
              <a:t>POCKETSMART AI   •   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4892040" cy="4389120"/>
          </a:xfrm>
          <a:prstGeom prst="roundRect">
            <a:avLst/>
          </a:prstGeom>
          <a:solidFill>
            <a:srgbClr val="101A30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3CDFF"/>
                </a:solidFill>
                <a:latin typeface="Aptos Display"/>
              </a:rPr>
              <a:t>USER PROVIDES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423160"/>
            <a:ext cx="3749039" cy="384048"/>
          </a:xfrm>
          <a:prstGeom prst="roundRect">
            <a:avLst/>
          </a:prstGeom>
          <a:solidFill>
            <a:srgbClr val="4169FF"/>
          </a:solidFill>
          <a:ln>
            <a:solidFill>
              <a:srgbClr val="4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496312"/>
            <a:ext cx="36575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ptos Display"/>
              </a:rPr>
              <a:t>Planning 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044952"/>
            <a:ext cx="3749039" cy="384048"/>
          </a:xfrm>
          <a:prstGeom prst="roundRect">
            <a:avLst/>
          </a:prstGeom>
          <a:solidFill>
            <a:srgbClr val="4169FF"/>
          </a:solidFill>
          <a:ln>
            <a:solidFill>
              <a:srgbClr val="4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18104"/>
            <a:ext cx="36575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ptos Display"/>
              </a:rPr>
              <a:t>Budget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666744"/>
            <a:ext cx="3749039" cy="384048"/>
          </a:xfrm>
          <a:prstGeom prst="roundRect">
            <a:avLst/>
          </a:prstGeom>
          <a:solidFill>
            <a:srgbClr val="4169FF"/>
          </a:solidFill>
          <a:ln>
            <a:solidFill>
              <a:srgbClr val="4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739896"/>
            <a:ext cx="36575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ptos Display"/>
              </a:rPr>
              <a:t>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288536"/>
            <a:ext cx="3749039" cy="384048"/>
          </a:xfrm>
          <a:prstGeom prst="roundRect">
            <a:avLst/>
          </a:prstGeom>
          <a:solidFill>
            <a:srgbClr val="4169FF"/>
          </a:solidFill>
          <a:ln>
            <a:solidFill>
              <a:srgbClr val="4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361688"/>
            <a:ext cx="36575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ptos Display"/>
              </a:rPr>
              <a:t>Preferences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1508760"/>
            <a:ext cx="5440680" cy="4389120"/>
          </a:xfrm>
          <a:prstGeom prst="roundRect">
            <a:avLst/>
          </a:prstGeom>
          <a:solidFill>
            <a:srgbClr val="16233E"/>
          </a:solidFill>
          <a:ln>
            <a:solidFill>
              <a:srgbClr val="374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8288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F8FF"/>
                </a:solidFill>
                <a:latin typeface="Aptos Display"/>
              </a:rPr>
              <a:t>POCKETSMART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514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64BFF"/>
                </a:solidFill>
                <a:latin typeface="Aptos Display"/>
              </a:rPr>
              <a:t>INPUT  →  PROCESS  →  AI  → 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37560"/>
            <a:ext cx="4480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5F8FF"/>
                </a:solidFill>
                <a:latin typeface="Aptos Display"/>
              </a:rPr>
              <a:t>Personalized recommendations
+ budget breakdown
+ saved history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5074920"/>
            <a:ext cx="3108960" cy="384048"/>
          </a:xfrm>
          <a:prstGeom prst="roundRect">
            <a:avLst/>
          </a:prstGeom>
          <a:solidFill>
            <a:srgbClr val="28D791"/>
          </a:solidFill>
          <a:ln>
            <a:solidFill>
              <a:srgbClr val="28D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514807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ptos Display"/>
              </a:rPr>
              <a:t>SIMPLE • SMART • USEFUL</a:t>
            </a:r>
          </a:p>
        </p:txBody>
      </p:sp>
    </p:spTree>
  </p:cSld>
  <p:transition spd="slow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3CDFF"/>
          </a:solidFill>
          <a:ln>
            <a:solidFill>
              <a:srgbClr val="2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CDFF"/>
                </a:solidFill>
                <a:latin typeface="Aptos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 Display"/>
              </a:rPr>
              <a:t>WHAT CAN IT PLAN?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046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9D4"/>
                </a:solidFill>
                <a:latin typeface="Aptos Display"/>
              </a:rPr>
              <a:t>Three focused planners are available in the current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AAB9D4"/>
                </a:solidFill>
                <a:latin typeface="Aptos Display"/>
              </a:rPr>
              <a:t>POCKETSMART AI   •   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383280" cy="3520440"/>
          </a:xfrm>
          <a:prstGeom prst="roundRect">
            <a:avLst/>
          </a:prstGeom>
          <a:solidFill>
            <a:srgbClr val="101A30"/>
          </a:solidFill>
          <a:ln>
            <a:solidFill>
              <a:srgbClr val="2D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920240"/>
            <a:ext cx="960120" cy="384048"/>
          </a:xfrm>
          <a:prstGeom prst="roundRect">
            <a:avLst/>
          </a:prstGeom>
          <a:solidFill>
            <a:srgbClr val="4169FF"/>
          </a:solidFill>
          <a:ln>
            <a:solidFill>
              <a:srgbClr val="4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ptos Display"/>
              </a:rP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 Display"/>
              </a:rPr>
              <a:t>HOME INTERIOR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9D4"/>
                </a:solidFill>
                <a:latin typeface="Aptos Display"/>
              </a:rPr>
              <a:t>Furniture • Lighting • Fans • Dining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69FF"/>
                </a:solidFill>
                <a:latin typeface="Aptos Display"/>
              </a:rPr>
              <a:t>Budget-aware planning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00200"/>
            <a:ext cx="3383280" cy="3520440"/>
          </a:xfrm>
          <a:prstGeom prst="roundRect">
            <a:avLst/>
          </a:prstGeom>
          <a:solidFill>
            <a:srgbClr val="101A30"/>
          </a:solidFill>
          <a:ln>
            <a:solidFill>
              <a:srgbClr val="2D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09159" y="1920240"/>
            <a:ext cx="960120" cy="384048"/>
          </a:xfrm>
          <a:prstGeom prst="roundRect">
            <a:avLst/>
          </a:prstGeom>
          <a:solidFill>
            <a:srgbClr val="964BFF"/>
          </a:solidFill>
          <a:ln>
            <a:solidFill>
              <a:srgbClr val="96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1993392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ptos Display"/>
              </a:rPr>
              <a:t>PARTY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2651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 Display"/>
              </a:rPr>
              <a:t>PARTY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38328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9D4"/>
                </a:solidFill>
                <a:latin typeface="Aptos Display"/>
              </a:rPr>
              <a:t>Venue • Food • Decoration • Entertainment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457200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64BFF"/>
                </a:solidFill>
                <a:latin typeface="Aptos Display"/>
              </a:rPr>
              <a:t>Budget-aware planning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600200"/>
            <a:ext cx="3383280" cy="3520440"/>
          </a:xfrm>
          <a:prstGeom prst="roundRect">
            <a:avLst/>
          </a:prstGeom>
          <a:solidFill>
            <a:srgbClr val="101A30"/>
          </a:solidFill>
          <a:ln>
            <a:solidFill>
              <a:srgbClr val="2D3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58200" y="1920240"/>
            <a:ext cx="960120" cy="384048"/>
          </a:xfrm>
          <a:prstGeom prst="roundRect">
            <a:avLst/>
          </a:prstGeom>
          <a:solidFill>
            <a:srgbClr val="28D791"/>
          </a:solidFill>
          <a:ln>
            <a:solidFill>
              <a:srgbClr val="28D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993392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ptos Display"/>
              </a:rPr>
              <a:t>JEWELRY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651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 Display"/>
              </a:rPr>
              <a:t>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38328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9D4"/>
                </a:solidFill>
                <a:latin typeface="Aptos Display"/>
              </a:rPr>
              <a:t>Occasion • Outfit • Jewelry •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57200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D791"/>
                </a:solidFill>
                <a:latin typeface="Aptos Display"/>
              </a:rPr>
              <a:t>Budget-aware planning</a:t>
            </a:r>
          </a:p>
        </p:txBody>
      </p:sp>
    </p:spTree>
  </p:cSld>
  <p:transition spd="slow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3CDFF"/>
          </a:solidFill>
          <a:ln>
            <a:solidFill>
              <a:srgbClr val="2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CDFF"/>
                </a:solidFill>
                <a:latin typeface="Aptos Display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 Display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046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9D4"/>
                </a:solidFill>
                <a:latin typeface="Aptos Display"/>
              </a:rPr>
              <a:t>A clean end-to-end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AAB9D4"/>
                </a:solidFill>
                <a:latin typeface="Aptos Display"/>
              </a:rPr>
              <a:t>POCKETSMART AI   •   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965960" cy="2331720"/>
          </a:xfrm>
          <a:prstGeom prst="roundRect">
            <a:avLst/>
          </a:prstGeom>
          <a:solidFill>
            <a:srgbClr val="101A30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CDFF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 Display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375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9D4"/>
                </a:solidFill>
                <a:latin typeface="Aptos Display"/>
              </a:rPr>
              <a:t>Select 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5F8FF"/>
                </a:solidFill>
                <a:latin typeface="Aptos Display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1874519"/>
            <a:ext cx="1965960" cy="2331720"/>
          </a:xfrm>
          <a:prstGeom prst="roundRect">
            <a:avLst/>
          </a:prstGeom>
          <a:solidFill>
            <a:srgbClr val="101A30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169FF"/>
                </a:solidFill>
                <a:latin typeface="Aptos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27432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 Display"/>
              </a:rP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3375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9D4"/>
                </a:solidFill>
                <a:latin typeface="Aptos Display"/>
              </a:rPr>
              <a:t>Enter budget +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5F8FF"/>
                </a:solidFill>
                <a:latin typeface="Aptos Display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59" y="1874519"/>
            <a:ext cx="1965960" cy="2331720"/>
          </a:xfrm>
          <a:prstGeom prst="roundRect">
            <a:avLst/>
          </a:prstGeom>
          <a:solidFill>
            <a:srgbClr val="101A30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64BFF"/>
                </a:solidFill>
                <a:latin typeface="Aptos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7432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 Display"/>
              </a:rPr>
              <a:t>FASTAPI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3375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9D4"/>
                </a:solidFill>
                <a:latin typeface="Aptos Display"/>
              </a:rPr>
              <a:t>Process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19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5F8FF"/>
                </a:solidFill>
                <a:latin typeface="Aptos Display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874519"/>
            <a:ext cx="1965960" cy="2331720"/>
          </a:xfrm>
          <a:prstGeom prst="roundRect">
            <a:avLst/>
          </a:prstGeom>
          <a:solidFill>
            <a:srgbClr val="101A30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64BFF"/>
                </a:solidFill>
                <a:latin typeface="Aptos Display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7432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 Display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59" y="33375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9D4"/>
                </a:solidFill>
                <a:latin typeface="Aptos Display"/>
              </a:rPr>
              <a:t>Generate suggestions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5F8FF"/>
                </a:solidFill>
                <a:latin typeface="Aptos Display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1874519"/>
            <a:ext cx="1965960" cy="2331720"/>
          </a:xfrm>
          <a:prstGeom prst="roundRect">
            <a:avLst/>
          </a:prstGeom>
          <a:solidFill>
            <a:srgbClr val="101A30"/>
          </a:solidFill>
          <a:ln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D791"/>
                </a:solidFill>
                <a:latin typeface="Aptos Display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7432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 Display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333756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9D4"/>
                </a:solidFill>
                <a:latin typeface="Aptos Display"/>
              </a:rPr>
              <a:t>Plan + breakdown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4983480"/>
            <a:ext cx="4800600" cy="384048"/>
          </a:xfrm>
          <a:prstGeom prst="roundRect">
            <a:avLst/>
          </a:prstGeom>
          <a:solidFill>
            <a:srgbClr val="23CDFF"/>
          </a:solidFill>
          <a:ln>
            <a:solidFill>
              <a:srgbClr val="2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39" y="5056632"/>
            <a:ext cx="4709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ptos Display"/>
              </a:rPr>
              <a:t>INPUT → PROCESS → RECOMMENDATION</a:t>
            </a:r>
          </a:p>
        </p:txBody>
      </p:sp>
    </p:spTree>
  </p:cSld>
  <p:transition spd="slow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3CDFF"/>
          </a:solidFill>
          <a:ln>
            <a:solidFill>
              <a:srgbClr val="2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CDFF"/>
                </a:solidFill>
                <a:latin typeface="Aptos Display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 Display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046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9D4"/>
                </a:solidFill>
                <a:latin typeface="Aptos Display"/>
              </a:rPr>
              <a:t>The project uses a modular Python web stack with AI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AAB9D4"/>
                </a:solidFill>
                <a:latin typeface="Aptos Display"/>
              </a:rPr>
              <a:t>POCKETSMART AI   •   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29000" cy="1417320"/>
          </a:xfrm>
          <a:prstGeom prst="roundRect">
            <a:avLst/>
          </a:prstGeom>
          <a:solidFill>
            <a:srgbClr val="101A30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CDFF"/>
                </a:solidFill>
                <a:latin typeface="Aptos Display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5F8FF"/>
                </a:solidFill>
                <a:latin typeface="Aptos Display"/>
              </a:rPr>
              <a:t>HTML • CSS • 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54480"/>
            <a:ext cx="3429000" cy="1417320"/>
          </a:xfrm>
          <a:prstGeom prst="roundRect">
            <a:avLst/>
          </a:prstGeom>
          <a:solidFill>
            <a:srgbClr val="101A30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78308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169FF"/>
                </a:solidFill>
                <a:latin typeface="Aptos Display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240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5F8FF"/>
                </a:solidFill>
                <a:latin typeface="Aptos Display"/>
              </a:rPr>
              <a:t>Python • FastAPI • Uvicorn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54480"/>
            <a:ext cx="3429000" cy="1417320"/>
          </a:xfrm>
          <a:prstGeom prst="roundRect">
            <a:avLst/>
          </a:prstGeom>
          <a:solidFill>
            <a:srgbClr val="101A30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78308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8D791"/>
                </a:solidFill>
                <a:latin typeface="Aptos Display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240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5F8FF"/>
                </a:solidFill>
                <a:latin typeface="Aptos Display"/>
              </a:rPr>
              <a:t>SQLite • SQLAlchemy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3429000" cy="1417320"/>
          </a:xfrm>
          <a:prstGeom prst="roundRect">
            <a:avLst/>
          </a:prstGeom>
          <a:solidFill>
            <a:srgbClr val="101A30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64BFF"/>
                </a:solidFill>
                <a:latin typeface="Aptos Display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5F8FF"/>
                </a:solidFill>
                <a:latin typeface="Aptos Display"/>
              </a:rPr>
              <a:t>Google Gemini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429000"/>
            <a:ext cx="3429000" cy="1417320"/>
          </a:xfrm>
          <a:prstGeom prst="roundRect">
            <a:avLst/>
          </a:prstGeom>
          <a:solidFill>
            <a:srgbClr val="101A30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36576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E41"/>
                </a:solidFill>
                <a:latin typeface="Aptos Display"/>
              </a:rPr>
              <a:t>TEMPLATES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5F8FF"/>
                </a:solidFill>
                <a:latin typeface="Aptos Display"/>
              </a:rPr>
              <a:t>Jinja2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429000"/>
            <a:ext cx="3429000" cy="1417320"/>
          </a:xfrm>
          <a:prstGeom prst="roundRect">
            <a:avLst/>
          </a:prstGeom>
          <a:solidFill>
            <a:srgbClr val="101A30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6576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CDFF"/>
                </a:solidFill>
                <a:latin typeface="Aptos Display"/>
              </a:rPr>
              <a:t>TESTING / VCS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5F8FF"/>
                </a:solidFill>
                <a:latin typeface="Aptos Display"/>
              </a:rPr>
              <a:t>Pytest • Git • GitHub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5532120"/>
            <a:ext cx="6903720" cy="384048"/>
          </a:xfrm>
          <a:prstGeom prst="roundRect">
            <a:avLst/>
          </a:prstGeom>
          <a:solidFill>
            <a:srgbClr val="964BFF"/>
          </a:solidFill>
          <a:ln>
            <a:solidFill>
              <a:srgbClr val="96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79" y="5605272"/>
            <a:ext cx="6812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ptos Display"/>
              </a:rPr>
              <a:t>LIGHTWEIGHT • MODULAR • MAINTAINABLE • AI-READY</a:t>
            </a:r>
          </a:p>
        </p:txBody>
      </p:sp>
    </p:spTree>
  </p:cSld>
  <p:transition spd="slow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3CDFF"/>
          </a:solidFill>
          <a:ln>
            <a:solidFill>
              <a:srgbClr val="2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CDFF"/>
                </a:solidFill>
                <a:latin typeface="Aptos Display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046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9D4"/>
                </a:solidFill>
                <a:latin typeface="Aptos Display"/>
              </a:rPr>
              <a:t>Each layer has a clear responsibility.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AAB9D4"/>
                </a:solidFill>
                <a:latin typeface="Aptos Display"/>
              </a:rPr>
              <a:t>POCKETSMART AI   •   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417320"/>
            <a:ext cx="7498079" cy="658368"/>
          </a:xfrm>
          <a:prstGeom prst="roundRect">
            <a:avLst/>
          </a:prstGeom>
          <a:solidFill>
            <a:srgbClr val="101A30"/>
          </a:solidFill>
          <a:ln>
            <a:solidFill>
              <a:srgbClr val="2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5270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3CDFF"/>
                </a:solidFill>
                <a:latin typeface="Aptos Display"/>
              </a:rPr>
              <a:t>USER / WEB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527048"/>
            <a:ext cx="4526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5F8FF"/>
                </a:solidFill>
                <a:latin typeface="Aptos Display"/>
              </a:rPr>
              <a:t>HTML • CSS • JS • Jinja2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0391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B9D4"/>
                </a:solidFill>
                <a:latin typeface="Aptos Display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331720"/>
            <a:ext cx="7498079" cy="658368"/>
          </a:xfrm>
          <a:prstGeom prst="roundRect">
            <a:avLst/>
          </a:prstGeom>
          <a:solidFill>
            <a:srgbClr val="101A30"/>
          </a:solidFill>
          <a:ln>
            <a:solidFill>
              <a:srgbClr val="41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4414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4169FF"/>
                </a:solidFill>
                <a:latin typeface="Aptos Display"/>
              </a:rPr>
              <a:t>FASTAPI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441448"/>
            <a:ext cx="4526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5F8FF"/>
                </a:solidFill>
                <a:latin typeface="Aptos Display"/>
              </a:rPr>
              <a:t>Routes • Authentication •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9535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B9D4"/>
                </a:solidFill>
                <a:latin typeface="Aptos Display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3246120"/>
            <a:ext cx="7498079" cy="658368"/>
          </a:xfrm>
          <a:prstGeom prst="roundRect">
            <a:avLst/>
          </a:prstGeom>
          <a:solidFill>
            <a:srgbClr val="101A30"/>
          </a:solidFill>
          <a:ln>
            <a:solidFill>
              <a:srgbClr val="96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33558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64BFF"/>
                </a:solidFill>
                <a:latin typeface="Aptos Display"/>
              </a:rPr>
              <a:t>SERVICE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55848"/>
            <a:ext cx="4526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5F8FF"/>
                </a:solidFill>
                <a:latin typeface="Aptos Display"/>
              </a:rPr>
              <a:t>Catalog • Recommendation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86791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B9D4"/>
                </a:solidFill>
                <a:latin typeface="Aptos Display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4160520"/>
            <a:ext cx="7498079" cy="658368"/>
          </a:xfrm>
          <a:prstGeom prst="roundRect">
            <a:avLst/>
          </a:prstGeom>
          <a:solidFill>
            <a:srgbClr val="101A30"/>
          </a:solidFill>
          <a:ln>
            <a:solidFill>
              <a:srgbClr val="28D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42702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8D791"/>
                </a:solidFill>
                <a:latin typeface="Aptos Display"/>
              </a:rPr>
              <a:t>AI +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70248"/>
            <a:ext cx="4526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5F8FF"/>
                </a:solidFill>
                <a:latin typeface="Aptos Display"/>
              </a:rPr>
              <a:t>Gemini API • 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782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B9D4"/>
                </a:solidFill>
                <a:latin typeface="Aptos Display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5074920"/>
            <a:ext cx="7498079" cy="658368"/>
          </a:xfrm>
          <a:prstGeom prst="roundRect">
            <a:avLst/>
          </a:prstGeom>
          <a:solidFill>
            <a:srgbClr val="101A30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51846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BE41"/>
                </a:solidFill>
                <a:latin typeface="Aptos Display"/>
              </a:rP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5184648"/>
            <a:ext cx="4526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5F8FF"/>
                </a:solidFill>
                <a:latin typeface="Aptos Display"/>
              </a:rPr>
              <a:t>Recommendation • Budget breakdown • History</a:t>
            </a:r>
          </a:p>
        </p:txBody>
      </p:sp>
    </p:spTree>
  </p:cSld>
  <p:transition spd="slow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3CDFF"/>
          </a:solidFill>
          <a:ln>
            <a:solidFill>
              <a:srgbClr val="2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CDFF"/>
                </a:solidFill>
                <a:latin typeface="Aptos Display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 Display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046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9D4"/>
                </a:solidFill>
                <a:latin typeface="Aptos Display"/>
              </a:rPr>
              <a:t>The current build focuses on a practical, easy-to-demo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AAB9D4"/>
                </a:solidFill>
                <a:latin typeface="Aptos Display"/>
              </a:rPr>
              <a:t>POCKETSMART AI   •   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1234440"/>
          </a:xfrm>
          <a:prstGeom prst="roundRect">
            <a:avLst/>
          </a:prstGeom>
          <a:solidFill>
            <a:srgbClr val="101A30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1848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CDFF"/>
                </a:solidFill>
                <a:latin typeface="Aptos Display"/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8191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CDFF"/>
                </a:solidFill>
                <a:latin typeface="Aptos Display"/>
              </a:rPr>
              <a:t>SECURE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84248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AAB9D4"/>
                </a:solidFill>
                <a:latin typeface="Aptos Display"/>
              </a:rPr>
              <a:t>Register, login and session-based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1234440"/>
          </a:xfrm>
          <a:prstGeom prst="roundRect">
            <a:avLst/>
          </a:prstGeom>
          <a:solidFill>
            <a:srgbClr val="101A30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1848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8D791"/>
                </a:solidFill>
                <a:latin typeface="Aptos Display"/>
              </a:rPr>
              <a:t>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58191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8D791"/>
                </a:solidFill>
                <a:latin typeface="Aptos Display"/>
              </a:rPr>
              <a:t>BUDGET-AWARE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84248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AAB9D4"/>
                </a:solidFill>
                <a:latin typeface="Aptos Display"/>
              </a:rPr>
              <a:t>Recommendations are generated around user budget.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26080"/>
            <a:ext cx="5257800" cy="1234440"/>
          </a:xfrm>
          <a:prstGeom prst="roundRect">
            <a:avLst/>
          </a:prstGeom>
          <a:solidFill>
            <a:srgbClr val="101A30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12724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964BFF"/>
                </a:solidFill>
                <a:latin typeface="Aptos Display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09067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64BFF"/>
                </a:solidFill>
                <a:latin typeface="Aptos Display"/>
              </a:rPr>
              <a:t>AI ASSISTED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493008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AAB9D4"/>
                </a:solidFill>
                <a:latin typeface="Aptos Display"/>
              </a:rPr>
              <a:t>Gemini integration for recommendation generation.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26080"/>
            <a:ext cx="5257800" cy="1234440"/>
          </a:xfrm>
          <a:prstGeom prst="roundRect">
            <a:avLst/>
          </a:prstGeom>
          <a:solidFill>
            <a:srgbClr val="101A30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12724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4169FF"/>
                </a:solidFill>
                <a:latin typeface="Aptos Display"/>
              </a:rPr>
              <a:t>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09067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169FF"/>
                </a:solidFill>
                <a:latin typeface="Aptos Display"/>
              </a:rPr>
              <a:t>BREAKDOWN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493008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AAB9D4"/>
                </a:solidFill>
                <a:latin typeface="Aptos Display"/>
              </a:rPr>
              <a:t>Clear allocation of the available budget.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34840"/>
            <a:ext cx="5257800" cy="1234440"/>
          </a:xfrm>
          <a:prstGeom prst="roundRect">
            <a:avLst/>
          </a:prstGeom>
          <a:solidFill>
            <a:srgbClr val="101A30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636007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BE41"/>
                </a:solidFill>
                <a:latin typeface="Aptos Display"/>
              </a:rPr>
              <a:t>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599431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E41"/>
                </a:solidFill>
                <a:latin typeface="Aptos Display"/>
              </a:rPr>
              <a:t>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001768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AAB9D4"/>
                </a:solidFill>
                <a:latin typeface="Aptos Display"/>
              </a:rPr>
              <a:t>Previously generated plans can be revisited.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34840"/>
            <a:ext cx="5257800" cy="1234440"/>
          </a:xfrm>
          <a:prstGeom prst="roundRect">
            <a:avLst/>
          </a:prstGeom>
          <a:solidFill>
            <a:srgbClr val="101A30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636007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CDFF"/>
                </a:solidFill>
                <a:latin typeface="Aptos Display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599431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CDFF"/>
                </a:solidFill>
                <a:latin typeface="Aptos Display"/>
              </a:rPr>
              <a:t>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001768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AAB9D4"/>
                </a:solidFill>
                <a:latin typeface="Aptos Display"/>
              </a:rPr>
              <a:t>Separate planners with a clean interface.</a:t>
            </a:r>
          </a:p>
        </p:txBody>
      </p:sp>
    </p:spTree>
  </p:cSld>
  <p:transition spd="slow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3CDFF"/>
          </a:solidFill>
          <a:ln>
            <a:solidFill>
              <a:srgbClr val="2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CDFF"/>
                </a:solidFill>
                <a:latin typeface="Aptos Display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 Display"/>
              </a:rPr>
              <a:t>RESULT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8046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AB9D4"/>
                </a:solidFill>
                <a:latin typeface="Aptos Display"/>
              </a:rPr>
              <a:t>Current implementation and planned expansion.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AAB9D4"/>
                </a:solidFill>
                <a:latin typeface="Aptos Display"/>
              </a:rPr>
              <a:t>POCKETSMART AI   •   9/10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303520" cy="4480560"/>
          </a:xfrm>
          <a:prstGeom prst="roundRect">
            <a:avLst/>
          </a:prstGeom>
          <a:solidFill>
            <a:srgbClr val="101A30"/>
          </a:solidFill>
          <a:ln>
            <a:solidFill>
              <a:srgbClr val="2D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8D791"/>
                </a:solidFill>
                <a:latin typeface="Aptos Display"/>
              </a:rPr>
              <a:t>CURRENT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✓ Working web application
✓ Authentication
✓ Three planning modules
✓ Budget-based recommendations
✓ AI integration
✓ Recommendation history
✓ GitHub repository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480560"/>
          </a:xfrm>
          <a:prstGeom prst="roundRect">
            <a:avLst/>
          </a:prstGeom>
          <a:solidFill>
            <a:srgbClr val="101A30"/>
          </a:solidFill>
          <a:ln>
            <a:solidFill>
              <a:srgbClr val="46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964BFF"/>
                </a:solidFill>
                <a:latin typeface="Aptos Display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 Display"/>
              </a:rPr>
              <a:t>→ Real-time product/API data
→ More planning categories
→ Advanced personalization
→ Mobile application
→ Analytics &amp; insights
→ Improved recommendation quality</a:t>
            </a:r>
          </a:p>
        </p:txBody>
      </p:sp>
    </p:spTree>
  </p:cSld>
  <p:transition spd="slow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3CDFF"/>
          </a:solidFill>
          <a:ln>
            <a:solidFill>
              <a:srgbClr val="23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CDFF"/>
                </a:solidFill>
                <a:latin typeface="Aptos Display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 Display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AAB9D4"/>
                </a:solidFill>
                <a:latin typeface="Aptos Display"/>
              </a:rPr>
              <a:t>POCKETSMART AI   •   10/10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5F8FF"/>
                </a:solidFill>
                <a:latin typeface="Aptos Display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3CDFF"/>
                </a:solidFill>
                <a:latin typeface="Aptos Display"/>
              </a:rPr>
              <a:t>PocketSmart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B9D4"/>
                </a:solidFill>
                <a:latin typeface="Aptos Display"/>
              </a:rPr>
              <a:t>Your Smart Budget &amp; Recommendation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297680"/>
            <a:ext cx="3566160" cy="384048"/>
          </a:xfrm>
          <a:prstGeom prst="roundRect">
            <a:avLst/>
          </a:prstGeom>
          <a:solidFill>
            <a:srgbClr val="964BFF"/>
          </a:solidFill>
          <a:ln>
            <a:solidFill>
              <a:srgbClr val="96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437083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ptos Display"/>
              </a:rP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 Display"/>
              </a:rPr>
              <a:t>Ranjith • Reyan • Magesh • Shyam</a:t>
            </a:r>
          </a:p>
        </p:txBody>
      </p:sp>
    </p:spTree>
  </p:cSld>
  <p:transition spd="slow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